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và các bạn. Nhóm em trình bày đề tài phân tích quy trình nghiệp vụ chuỗi bán lẻ Thế Giới Di Động và TopZone. Bài gồm bốn phần: tổng quan và kiến trúc quy trình, cơ sở lý thuyết, mô hình hóa, và phân tích cải tiến.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chia bốn phần, tổng khoảng 15 phút. Em sẽ dành nhiều thời gian nhất cho phần 3 và 4 vì đó là phần có kết quả phân tích.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chuỗi dùng chung nền tảng vận hành nên quy trình lõi gộp được, chỉ tách khi có khác biệt thật sự — ví dụ khâu bảo hành của TopZone đi theo kênh Apple.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em muốn nói kỹ. Nhóm không có số liệu nội bộ, nên thay vì bịa ra con số đẹp, nhóm ghi rõ cái gì đo được và cái gì không. Mọi con số trong bài đều truy được về bảng bấm giờ hoặc bảng giả định.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Hình 1.1 trong báo cáo. Ba dải là ba lớp. Mũi tên đỏ là vòng phản hồi từ bảo hành ngược lên quản lý nhà cung cấp — em sẽ quay lại chỗ này ở phần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luồng duy nhất đi ngược từ lớp cốt lõi lên lớp quản lý, và là phát hiện mà nhóm thấy đáng giá nhất về mặt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lý thuyết do bạn Hồng Phúc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ký hiệu — Hồng Phúc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Khung phân loại lãng phí — Hồng Phúc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Bạn Hưng phụ trách buổi khảo sát thực địa. Đây là phần khác biệt lớn nhất của nhóm so với việc chỉ đọc tài liệu trên mạng.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không merge im lặng. Comment trong pull request chính là biên bản review, một việc ra hai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hồ sơ dùng chung một template 12 mục, nên Chương 3 dàn trang đồng nhất và bảng nào cũng so sánh được với nhau.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M2 có vòng phê duyệt nhiều cấp theo giá trị hợp đồng, và vòng đánh giá nhà cung cấp định kỳ có dùng dữ liệu lỗi từ C4.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đáng chú ý ở C3 là actor công ty tài chính nằm ngoài doanh nghiệp nhưng lại là người ra quyết định. Toàn bộ quy trình dừng chờ ở đó.</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C4 là mô hình phức tạp nhất với 11 gateway. Có bốn kết thúc khác nhau, trong đó hai kết thúc là từ chối bảo hành.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Hưng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Hưng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Hồng Phúc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Hồng Phúc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Hồng Phúc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Mười ba phát hiện gom từ mục điểm nghẽn của ba hồ sơ. Nhóm Hold chiếm gần một nửa — đó là hướng chính của phần đề xuất.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điểm em muốn nhấn: hai phát hiện nặng nhất về thời gian lại là hai phát hiện cửa hàng không tự xử lý được. Đề xuất phải nhắm vào giảm ảnh hưởng của khoảng chờ chứ không phải xóa nó.</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đề xuất chờ số liệu khảo sát để xếp ưu tiên có căn cứ.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kết thúc phần trình bày. Nhóm em cảm ơn thầy và các bạn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698480" cy="731520"/>
          </a:xfrm>
          <a:prstGeom prst="rect">
            <a:avLst/>
          </a:prstGeom>
          <a:noFill/>
        </p:spPr>
        <p:txBody>
          <a:bodyPr wrap="none">
            <a:spAutoFit/>
          </a:bodyPr>
          <a:lstStyle/>
          <a:p>
            <a:pPr algn="ctr"/>
            <a:r>
              <a:rPr sz="4000" b="1">
                <a:solidFill>
                  <a:srgbClr val="1B355E"/>
                </a:solidFill>
                <a:latin typeface="Segoe UI"/>
              </a:rPr>
              <a:t>PHÂN TÍCH QUY TRÌNH NGHIỆP VỤ</a:t>
            </a:r>
          </a:p>
        </p:txBody>
      </p:sp>
      <p:sp>
        <p:nvSpPr>
          <p:cNvPr id="3" name="TextBox 2"/>
          <p:cNvSpPr txBox="1"/>
          <p:nvPr/>
        </p:nvSpPr>
        <p:spPr>
          <a:xfrm>
            <a:off x="731520" y="2743200"/>
            <a:ext cx="10698480" cy="731520"/>
          </a:xfrm>
          <a:prstGeom prst="rect">
            <a:avLst/>
          </a:prstGeom>
          <a:noFill/>
        </p:spPr>
        <p:txBody>
          <a:bodyPr wrap="none">
            <a:spAutoFit/>
          </a:bodyPr>
          <a:lstStyle/>
          <a:p>
            <a:pPr algn="ctr"/>
            <a:r>
              <a:rPr sz="2600" b="0">
                <a:solidFill>
                  <a:srgbClr val="555555"/>
                </a:solidFill>
                <a:latin typeface="Segoe UI"/>
              </a:rPr>
              <a:t>Chuỗi bán lẻ thegioididong.com và TopZone</a:t>
            </a:r>
          </a:p>
        </p:txBody>
      </p:sp>
      <p:sp>
        <p:nvSpPr>
          <p:cNvPr id="4" name="TextBox 3"/>
          <p:cNvSpPr txBox="1"/>
          <p:nvPr/>
        </p:nvSpPr>
        <p:spPr>
          <a:xfrm>
            <a:off x="731520" y="3840480"/>
            <a:ext cx="10698480" cy="731520"/>
          </a:xfrm>
          <a:prstGeom prst="rect">
            <a:avLst/>
          </a:prstGeom>
          <a:noFill/>
        </p:spPr>
        <p:txBody>
          <a:bodyPr wrap="none">
            <a:spAutoFit/>
          </a:bodyPr>
          <a:lstStyle/>
          <a:p>
            <a:pPr algn="ctr"/>
            <a:r>
              <a:rPr sz="1800" b="0">
                <a:solidFill>
                  <a:srgbClr val="555555"/>
                </a:solidFill>
                <a:latin typeface="Segoe UI"/>
              </a:rPr>
              <a:t>Nhóm 4 · Hệ thống Quản trị Qui trình Nghiệp vụ</a:t>
            </a:r>
          </a:p>
        </p:txBody>
      </p:sp>
      <p:sp>
        <p:nvSpPr>
          <p:cNvPr id="5" name="TextBox 4"/>
          <p:cNvSpPr txBox="1"/>
          <p:nvPr/>
        </p:nvSpPr>
        <p:spPr>
          <a:xfrm>
            <a:off x="731520" y="4297680"/>
            <a:ext cx="10698480" cy="731520"/>
          </a:xfrm>
          <a:prstGeom prst="rect">
            <a:avLst/>
          </a:prstGeom>
          <a:noFill/>
        </p:spPr>
        <p:txBody>
          <a:bodyPr wrap="none">
            <a:spAutoFit/>
          </a:bodyPr>
          <a:lstStyle/>
          <a:p>
            <a:pPr algn="ctr"/>
            <a:r>
              <a:rPr sz="1800" b="0">
                <a:solidFill>
                  <a:srgbClr val="555555"/>
                </a:solidFill>
                <a:latin typeface="Segoe UI"/>
              </a:rPr>
              <a:t>GVHD: ThS. Hà Lê Hoài Trung</a:t>
            </a:r>
          </a:p>
        </p:txBody>
      </p:sp>
      <p:sp>
        <p:nvSpPr>
          <p:cNvPr id="6" name="TextBox 5"/>
          <p:cNvSpPr txBox="1"/>
          <p:nvPr/>
        </p:nvSpPr>
        <p:spPr>
          <a:xfrm>
            <a:off x="731520" y="4937760"/>
            <a:ext cx="10698480" cy="731520"/>
          </a:xfrm>
          <a:prstGeom prst="rect">
            <a:avLst/>
          </a:prstGeom>
          <a:noFill/>
        </p:spPr>
        <p:txBody>
          <a:bodyPr wrap="none">
            <a:spAutoFit/>
          </a:bodyPr>
          <a:lstStyle/>
          <a:p>
            <a:pPr algn="ctr"/>
            <a:r>
              <a:rPr sz="1500" b="0">
                <a:solidFill>
                  <a:srgbClr val="555555"/>
                </a:solidFill>
                <a:latin typeface="Segoe UI"/>
              </a:rPr>
              <a:t>Nguyễn Ngọc Danh · Nguyễn Thị Hồng Phúc · Nguyễn Thanh Phúc · Mai Hoàng Hưng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Nội dung trình bày</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Phần 1 — Tổng quan doanh nghiệp và kiến trúc quy trình</a:t>
            </a:r>
          </a:p>
          <a:p>
            <a:pPr>
              <a:spcAft>
                <a:spcPts val="800"/>
              </a:spcAft>
            </a:pPr>
            <a:r>
              <a:rPr sz="1800">
                <a:solidFill>
                  <a:srgbClr val="555555"/>
                </a:solidFill>
                <a:latin typeface="Segoe UI"/>
              </a:rPr>
              <a:t>• Phần 2 — Cơ sở lý thuyết và phương pháp</a:t>
            </a:r>
          </a:p>
          <a:p>
            <a:pPr>
              <a:spcAft>
                <a:spcPts val="800"/>
              </a:spcAft>
            </a:pPr>
            <a:r>
              <a:rPr sz="1800">
                <a:solidFill>
                  <a:srgbClr val="555555"/>
                </a:solidFill>
                <a:latin typeface="Segoe UI"/>
              </a:rPr>
              <a:t>• Phần 3 — Mô hình hóa quy trình bằng BPMN</a:t>
            </a:r>
          </a:p>
          <a:p>
            <a:pPr>
              <a:spcAft>
                <a:spcPts val="800"/>
              </a:spcAft>
            </a:pPr>
            <a:r>
              <a:rPr sz="1800">
                <a:solidFill>
                  <a:srgbClr val="555555"/>
                </a:solidFill>
                <a:latin typeface="Segoe UI"/>
              </a:rPr>
              <a:t>• Phần 4 — Phân tích, phát hiện và đề xuất cải tiến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1.1 Doanh nghiệp và phạm vi</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MWG vận hành hai chuỗi: thegioididong.com (phổ thông) và TopZone (ủy quyền Apple)</a:t>
            </a:r>
          </a:p>
          <a:p>
            <a:pPr>
              <a:spcAft>
                <a:spcPts val="800"/>
              </a:spcAft>
            </a:pPr>
            <a:r>
              <a:rPr sz="1800">
                <a:solidFill>
                  <a:srgbClr val="555555"/>
                </a:solidFill>
                <a:latin typeface="Segoe UI"/>
              </a:rPr>
              <a:t>• Dùng chung nền tảng ERP, kho và hệ thống bảo hành</a:t>
            </a:r>
          </a:p>
          <a:p>
            <a:pPr>
              <a:spcAft>
                <a:spcPts val="800"/>
              </a:spcAft>
            </a:pPr>
            <a:r>
              <a:rPr sz="1800">
                <a:solidFill>
                  <a:srgbClr val="555555"/>
                </a:solidFill>
                <a:latin typeface="Segoe UI"/>
              </a:rPr>
              <a:t>• Phạm vi sản phẩm: điện thoại, laptop, máy tính bảng, phụ kiện</a:t>
            </a:r>
          </a:p>
          <a:p>
            <a:pPr>
              <a:spcAft>
                <a:spcPts val="800"/>
              </a:spcAft>
            </a:pPr>
            <a:r>
              <a:rPr sz="1800">
                <a:solidFill>
                  <a:srgbClr val="555555"/>
                </a:solidFill>
                <a:latin typeface="Segoe UI"/>
              </a:rPr>
              <a:t>• Loại khỏi phạm vi: đồng hồ, hàng gia dụng, hàng tiêu dùng, dịch vụ SIM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1.2 Giới hạn — nói trước để mọi số liệu sau đều truy được nguồn</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Nhóm là người quan sát bên ngoài, không truy cập hệ thống nội bộ MWG</a:t>
            </a:r>
          </a:p>
          <a:p>
            <a:pPr>
              <a:spcAft>
                <a:spcPts val="800"/>
              </a:spcAft>
            </a:pPr>
            <a:r>
              <a:rPr sz="1800">
                <a:solidFill>
                  <a:srgbClr val="555555"/>
                </a:solidFill>
                <a:latin typeface="Segoe UI"/>
              </a:rPr>
              <a:t>• Số liệu thời gian đến từ bấm giờ tại cửa hàng (ghi rõ cỡ mẫu n)</a:t>
            </a:r>
          </a:p>
          <a:p>
            <a:pPr>
              <a:spcAft>
                <a:spcPts val="800"/>
              </a:spcAft>
            </a:pPr>
            <a:r>
              <a:rPr sz="1800">
                <a:solidFill>
                  <a:srgbClr val="555555"/>
                </a:solidFill>
                <a:latin typeface="Segoe UI"/>
              </a:rPr>
              <a:t>• Số không đo được ghi rõ “(ước lượng)” và đưa vào bảng giả định</a:t>
            </a:r>
          </a:p>
          <a:p>
            <a:pPr>
              <a:spcAft>
                <a:spcPts val="800"/>
              </a:spcAft>
            </a:pPr>
            <a:r>
              <a:rPr sz="1800">
                <a:solidFill>
                  <a:srgbClr val="555555"/>
                </a:solidFill>
                <a:latin typeface="Segoe UI"/>
              </a:rPr>
              <a:t>• Quy trình mô tả là mô hình suy luận, không phải quy trình MWG ban hành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1.3 Kiến trúc 12 quy trình theo ba lớp</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inh-1-1-kien-truc-quy-trinh.png"/>
          <p:cNvPicPr>
            <a:picLocks noChangeAspect="1"/>
          </p:cNvPicPr>
          <p:nvPr/>
        </p:nvPicPr>
        <p:blipFill>
          <a:blip r:embed="rId2"/>
          <a:stretch>
            <a:fillRect/>
          </a:stretch>
        </p:blipFill>
        <p:spPr>
          <a:xfrm>
            <a:off x="548640" y="1554480"/>
            <a:ext cx="11064240" cy="7162640"/>
          </a:xfrm>
          <a:prstGeom prst="rect">
            <a:avLst/>
          </a:prstGeom>
        </p:spPr>
      </p:pic>
      <p:sp>
        <p:nvSpPr>
          <p:cNvPr id="5" name="TextBox 4"/>
          <p:cNvSpPr txBox="1"/>
          <p:nvPr/>
        </p:nvSpPr>
        <p:spPr>
          <a:xfrm>
            <a:off x="548640" y="5760720"/>
            <a:ext cx="11064240" cy="822960"/>
          </a:xfrm>
          <a:prstGeom prst="rect">
            <a:avLst/>
          </a:prstGeom>
          <a:noFill/>
        </p:spPr>
        <p:txBody>
          <a:bodyPr wrap="square">
            <a:spAutoFit/>
          </a:bodyPr>
          <a:lstStyle/>
          <a:p>
            <a:pPr>
              <a:spcAft>
                <a:spcPts val="800"/>
              </a:spcAft>
            </a:pPr>
            <a:r>
              <a:rPr sz="1500">
                <a:solidFill>
                  <a:srgbClr val="555555"/>
                </a:solidFill>
                <a:latin typeface="Segoe UI"/>
              </a:rPr>
              <a:t>• 6 quy trình được mô hình hóa BPMN: M2, M3, C3, C4, S1, S4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1.3 Vì sao vòng phản hồi C4 → M2 quan trọng</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Dữ liệu lỗi thực tế phát sinh ở khâu bảo hành (C4)</a:t>
            </a:r>
          </a:p>
          <a:p>
            <a:pPr>
              <a:spcAft>
                <a:spcPts val="800"/>
              </a:spcAft>
            </a:pPr>
            <a:r>
              <a:rPr sz="1800">
                <a:solidFill>
                  <a:srgbClr val="555555"/>
                </a:solidFill>
                <a:latin typeface="Segoe UI"/>
              </a:rPr>
              <a:t>• Chỉ có ích cho việc chọn nhà cung cấp (M2) nếu quay về kịp thời</a:t>
            </a:r>
          </a:p>
          <a:p>
            <a:pPr>
              <a:spcAft>
                <a:spcPts val="800"/>
              </a:spcAft>
            </a:pPr>
            <a:r>
              <a:rPr sz="1800">
                <a:solidFill>
                  <a:srgbClr val="555555"/>
                </a:solidFill>
                <a:latin typeface="Segoe UI"/>
              </a:rPr>
              <a:t>• Trễ ở vòng này = tiếp tục nhập model tỷ lệ lỗi cao</a:t>
            </a:r>
          </a:p>
          <a:p>
            <a:pPr>
              <a:spcAft>
                <a:spcPts val="800"/>
              </a:spcAft>
            </a:pPr>
            <a:r>
              <a:rPr sz="1800">
                <a:solidFill>
                  <a:srgbClr val="555555"/>
                </a:solidFill>
                <a:latin typeface="Segoe UI"/>
              </a:rPr>
              <a:t>• Chi phí bảo hành cộng dồn qua nhiều chu kỳ nhập hàng</a:t>
            </a:r>
          </a:p>
          <a:p>
            <a:pPr>
              <a:spcAft>
                <a:spcPts val="800"/>
              </a:spcAft>
            </a:pPr>
            <a:r>
              <a:rPr sz="1800">
                <a:solidFill>
                  <a:srgbClr val="555555"/>
                </a:solidFill>
                <a:latin typeface="Segoe UI"/>
              </a:rPr>
              <a:t>• Ghi nhận thành phát hiện IR-13 trong Issue Register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2.1 Khái niệm quy trình nghiệp vụ và BPM lifecycle</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[Nội dung do Hồng Phúc bổ sung]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2.2 Ký hiệu BPMN 2.0 dùng trong đề tài</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[Nội dung do Hồng Phúc bổ sung]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2.3 Ba nhóm lãng phí Move / Hold / Overdo</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[Nội dung do Hồng Phúc bổ sung]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2.4 Phương pháp thu thập dữ liệu</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Quan sát trực tiếp tại cửa hàng TGDĐ</a:t>
            </a:r>
          </a:p>
          <a:p>
            <a:pPr>
              <a:spcAft>
                <a:spcPts val="800"/>
              </a:spcAft>
            </a:pPr>
            <a:r>
              <a:rPr sz="1800">
                <a:solidFill>
                  <a:srgbClr val="555555"/>
                </a:solidFill>
                <a:latin typeface="Segoe UI"/>
              </a:rPr>
              <a:t>• Bấm giờ 6–10 lượt giao dịch bán, bấm riêng khâu bảo hành</a:t>
            </a:r>
          </a:p>
          <a:p>
            <a:pPr>
              <a:spcAft>
                <a:spcPts val="800"/>
              </a:spcAft>
            </a:pPr>
            <a:r>
              <a:rPr sz="1800">
                <a:solidFill>
                  <a:srgbClr val="555555"/>
                </a:solidFill>
                <a:latin typeface="Segoe UI"/>
              </a:rPr>
              <a:t>• Phỏng vấn nhân viên — 6 câu ngắn, không ghi âm nếu không được đồng ý</a:t>
            </a:r>
          </a:p>
          <a:p>
            <a:pPr>
              <a:spcAft>
                <a:spcPts val="800"/>
              </a:spcAft>
            </a:pPr>
            <a:r>
              <a:rPr sz="1800">
                <a:solidFill>
                  <a:srgbClr val="555555"/>
                </a:solidFill>
                <a:latin typeface="Segoe UI"/>
              </a:rPr>
              <a:t>• Chụp biểu mẫu và chính sách, che thông tin cá nhân</a:t>
            </a:r>
          </a:p>
          <a:p>
            <a:pPr>
              <a:spcAft>
                <a:spcPts val="800"/>
              </a:spcAft>
            </a:pPr>
            <a:r>
              <a:rPr sz="1800">
                <a:solidFill>
                  <a:srgbClr val="555555"/>
                </a:solidFill>
                <a:latin typeface="Segoe UI"/>
              </a:rPr>
              <a:t>• [Số liệu cụ thể do Hưng bổ sung sau buổi khảo sát]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2.5 Review chéo mô hình — bằng chứng từ pull request</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Mỗi mô hình: một người vẽ, một người khác duyệt qua pull request</a:t>
            </a:r>
          </a:p>
          <a:p>
            <a:pPr>
              <a:spcAft>
                <a:spcPts val="800"/>
              </a:spcAft>
            </a:pPr>
            <a:r>
              <a:rPr sz="1800">
                <a:solidFill>
                  <a:srgbClr val="555555"/>
                </a:solidFill>
                <a:latin typeface="Segoe UI"/>
              </a:rPr>
              <a:t>• Comment trong PR dùng luôn làm biên bản review chéo</a:t>
            </a:r>
          </a:p>
          <a:p>
            <a:pPr>
              <a:spcAft>
                <a:spcPts val="800"/>
              </a:spcAft>
            </a:pPr>
            <a:r>
              <a:rPr sz="1800">
                <a:solidFill>
                  <a:srgbClr val="555555"/>
                </a:solidFill>
                <a:latin typeface="Segoe UI"/>
              </a:rPr>
              <a:t>• Tự kiểm bằng script trên file .bpmn, không đếm tay</a:t>
            </a:r>
          </a:p>
          <a:p>
            <a:pPr>
              <a:spcAft>
                <a:spcPts val="800"/>
              </a:spcAft>
            </a:pPr>
            <a:r>
              <a:rPr sz="1800">
                <a:solidFill>
                  <a:srgbClr val="555555"/>
                </a:solidFill>
                <a:latin typeface="Segoe UI"/>
              </a:rPr>
              <a:t>• M2: 9 gateway · C3: 10 gateway · C4: 11 gateway — đều vượt mốc 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3.1 Ba quy trình cốt lõi — hồ sơ đầy đủ 12 mục</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C1 Bán tại cửa hàng — 14 bước, 9 điểm quyết định, 6 ngoại lệ</a:t>
            </a:r>
          </a:p>
          <a:p>
            <a:pPr>
              <a:spcAft>
                <a:spcPts val="800"/>
              </a:spcAft>
            </a:pPr>
            <a:r>
              <a:rPr sz="1800">
                <a:solidFill>
                  <a:srgbClr val="555555"/>
                </a:solidFill>
                <a:latin typeface="Segoe UI"/>
              </a:rPr>
              <a:t>• C3 Bán trả góp — 15 bước, 10 điểm quyết định, 7 ngoại lệ</a:t>
            </a:r>
          </a:p>
          <a:p>
            <a:pPr>
              <a:spcAft>
                <a:spcPts val="800"/>
              </a:spcAft>
            </a:pPr>
            <a:r>
              <a:rPr sz="1800">
                <a:solidFill>
                  <a:srgbClr val="555555"/>
                </a:solidFill>
                <a:latin typeface="Segoe UI"/>
              </a:rPr>
              <a:t>• C4 Bảo hành đổi trả — 16 bước, 11 điểm quyết định, 7 ngoại lệ</a:t>
            </a:r>
          </a:p>
          <a:p>
            <a:pPr>
              <a:spcAft>
                <a:spcPts val="800"/>
              </a:spcAft>
            </a:pPr>
            <a:r>
              <a:rPr sz="1800">
                <a:solidFill>
                  <a:srgbClr val="555555"/>
                </a:solidFill>
                <a:latin typeface="Segoe UI"/>
              </a:rPr>
              <a:t>• Template thống nhất: mục đích, phạm vi, actor, I/O, bước, gateway, ngoại lệ, quy tắc, chỉ số, hệ thống, điểm nghẽn, nguồn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3.4 BPMN M2 — Quản lý nhà cung cấp (9 gateway)</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2-quan-ly-nha-cung-cap.png"/>
          <p:cNvPicPr>
            <a:picLocks noChangeAspect="1"/>
          </p:cNvPicPr>
          <p:nvPr/>
        </p:nvPicPr>
        <p:blipFill>
          <a:blip r:embed="rId2"/>
          <a:stretch>
            <a:fillRect/>
          </a:stretch>
        </p:blipFill>
        <p:spPr>
          <a:xfrm>
            <a:off x="548640" y="1554480"/>
            <a:ext cx="11064240" cy="2886323"/>
          </a:xfrm>
          <a:prstGeom prst="rect">
            <a:avLst/>
          </a:prstGeom>
        </p:spPr>
      </p:pic>
      <p:sp>
        <p:nvSpPr>
          <p:cNvPr id="5" name="TextBox 4"/>
          <p:cNvSpPr txBox="1"/>
          <p:nvPr/>
        </p:nvSpPr>
        <p:spPr>
          <a:xfrm>
            <a:off x="548640" y="5760720"/>
            <a:ext cx="11064240" cy="822960"/>
          </a:xfrm>
          <a:prstGeom prst="rect">
            <a:avLst/>
          </a:prstGeom>
          <a:noFill/>
        </p:spPr>
        <p:txBody>
          <a:bodyPr wrap="square">
            <a:spAutoFit/>
          </a:bodyPr>
          <a:lstStyle/>
          <a:p>
            <a:pPr>
              <a:spcAft>
                <a:spcPts val="800"/>
              </a:spcAft>
            </a:pPr>
            <a:r>
              <a:rPr sz="1500">
                <a:solidFill>
                  <a:srgbClr val="555555"/>
                </a:solidFill>
                <a:latin typeface="Segoe UI"/>
              </a:rPr>
              <a:t>• Lưu ý: dựng khi hồ sơ M2 chưa hoàn tất, cần đối chiếu trước 30/08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3.4 BPMN C3 — Bán trả góp (10 gateway)</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3-ban-tra-gop.png"/>
          <p:cNvPicPr>
            <a:picLocks noChangeAspect="1"/>
          </p:cNvPicPr>
          <p:nvPr/>
        </p:nvPicPr>
        <p:blipFill>
          <a:blip r:embed="rId2"/>
          <a:stretch>
            <a:fillRect/>
          </a:stretch>
        </p:blipFill>
        <p:spPr>
          <a:xfrm>
            <a:off x="548640" y="1554480"/>
            <a:ext cx="11064240" cy="2724969"/>
          </a:xfrm>
          <a:prstGeom prst="rect">
            <a:avLst/>
          </a:prstGeom>
        </p:spPr>
      </p:pic>
      <p:sp>
        <p:nvSpPr>
          <p:cNvPr id="5" name="TextBox 4"/>
          <p:cNvSpPr txBox="1"/>
          <p:nvPr/>
        </p:nvSpPr>
        <p:spPr>
          <a:xfrm>
            <a:off x="548640" y="5760720"/>
            <a:ext cx="11064240" cy="822960"/>
          </a:xfrm>
          <a:prstGeom prst="rect">
            <a:avLst/>
          </a:prstGeom>
          <a:noFill/>
        </p:spPr>
        <p:txBody>
          <a:bodyPr wrap="square">
            <a:spAutoFit/>
          </a:bodyPr>
          <a:lstStyle/>
          <a:p>
            <a:pPr>
              <a:spcAft>
                <a:spcPts val="800"/>
              </a:spcAft>
            </a:pPr>
            <a:r>
              <a:rPr sz="1500">
                <a:solidFill>
                  <a:srgbClr val="555555"/>
                </a:solidFill>
                <a:latin typeface="Segoe UI"/>
              </a:rPr>
              <a:t>• G4 ba nhánh: duyệt / từ chối / yêu cầu bổ sung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3.4 BPMN C4 — Bảo hành, đổi trả (11 gateway)</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4-bao-hanh-doi-tra.png"/>
          <p:cNvPicPr>
            <a:picLocks noChangeAspect="1"/>
          </p:cNvPicPr>
          <p:nvPr/>
        </p:nvPicPr>
        <p:blipFill>
          <a:blip r:embed="rId2"/>
          <a:stretch>
            <a:fillRect/>
          </a:stretch>
        </p:blipFill>
        <p:spPr>
          <a:xfrm>
            <a:off x="548640" y="1554480"/>
            <a:ext cx="11064240" cy="3472238"/>
          </a:xfrm>
          <a:prstGeom prst="rect">
            <a:avLst/>
          </a:prstGeom>
        </p:spPr>
      </p:pic>
      <p:sp>
        <p:nvSpPr>
          <p:cNvPr id="5" name="TextBox 4"/>
          <p:cNvSpPr txBox="1"/>
          <p:nvPr/>
        </p:nvSpPr>
        <p:spPr>
          <a:xfrm>
            <a:off x="548640" y="5760720"/>
            <a:ext cx="11064240" cy="822960"/>
          </a:xfrm>
          <a:prstGeom prst="rect">
            <a:avLst/>
          </a:prstGeom>
          <a:noFill/>
        </p:spPr>
        <p:txBody>
          <a:bodyPr wrap="square">
            <a:spAutoFit/>
          </a:bodyPr>
          <a:lstStyle/>
          <a:p>
            <a:pPr>
              <a:spcAft>
                <a:spcPts val="800"/>
              </a:spcAft>
            </a:pPr>
            <a:r>
              <a:rPr sz="1500">
                <a:solidFill>
                  <a:srgbClr val="555555"/>
                </a:solidFill>
                <a:latin typeface="Segoe UI"/>
              </a:rPr>
              <a:t>• Trung tâm bảo hành vẽ thành lane riêng — actor bên ngoài ra quyết định cuối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4.1 Bảng giả định cho số liệu chưa xác minh</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[Nội dung bổ sung sau buổi khảo sát 23/08]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4.2 Cycle time và hiệu suất thời gian CTE</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[Nội dung bổ sung sau buổi khảo sát 23/08]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4.3 Phân tích giá trị VA / BVA / NVA cho C3 và C4</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[Nội dung bổ sung sau buổi khảo sát 23/08]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4.4 Phân nhóm lãng phí Move / Hold / Overdo</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[Nội dung bổ sung sau buổi khảo sát 23/08]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4.5 Biểu đồ xương cá cho điểm nghẽn chính</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[Nội dung bổ sung sau buổi khảo sát 23/08]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4.6 Issue Register — 13 phát hiện</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Hold — chờ đợi: 6 phát hiện (IR-03, 04, 05, 09, 10, 13)</a:t>
            </a:r>
          </a:p>
          <a:p>
            <a:pPr>
              <a:spcAft>
                <a:spcPts val="800"/>
              </a:spcAft>
            </a:pPr>
            <a:r>
              <a:rPr sz="1800">
                <a:solidFill>
                  <a:srgbClr val="555555"/>
                </a:solidFill>
                <a:latin typeface="Segoe UI"/>
              </a:rPr>
              <a:t>• Overdo — làm thừa, làm lại: 6 phát hiện (IR-01, 02, 06, 07, 11, 12)</a:t>
            </a:r>
          </a:p>
          <a:p>
            <a:pPr>
              <a:spcAft>
                <a:spcPts val="800"/>
              </a:spcAft>
            </a:pPr>
            <a:r>
              <a:rPr sz="1800">
                <a:solidFill>
                  <a:srgbClr val="555555"/>
                </a:solidFill>
                <a:latin typeface="Segoe UI"/>
              </a:rPr>
              <a:t>• Move — di chuyển: 2 phát hiện (IR-08, IR-12)</a:t>
            </a:r>
          </a:p>
          <a:p>
            <a:pPr>
              <a:spcAft>
                <a:spcPts val="800"/>
              </a:spcAft>
            </a:pPr>
            <a:r>
              <a:rPr sz="1800">
                <a:solidFill>
                  <a:srgbClr val="555555"/>
                </a:solidFill>
                <a:latin typeface="Segoe UI"/>
              </a:rPr>
              <a:t>• Phân bố theo quy trình: C1 bốn · C3 bốn · C4 năm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4.6 Hai loại chờ đợi cần hai hướng xử lý khác nhau</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Chờ actor bên ngoài — IR-05 công ty tài chính, IR-10 trung tâm bảo hành</a:t>
            </a:r>
          </a:p>
          <a:p>
            <a:pPr lvl="1">
              <a:spcAft>
                <a:spcPts val="800"/>
              </a:spcAft>
            </a:pPr>
            <a:r>
              <a:rPr sz="1600">
                <a:solidFill>
                  <a:srgbClr val="555555"/>
                </a:solidFill>
                <a:latin typeface="Segoe UI"/>
              </a:rPr>
              <a:t>– Cửa hàng không kiểm soát được → giảm ảnh hưởng, không xóa được khoảng chờ</a:t>
            </a:r>
          </a:p>
          <a:p>
            <a:pPr>
              <a:spcAft>
                <a:spcPts val="800"/>
              </a:spcAft>
            </a:pPr>
            <a:r>
              <a:rPr sz="1800">
                <a:solidFill>
                  <a:srgbClr val="555555"/>
                </a:solidFill>
                <a:latin typeface="Segoe UI"/>
              </a:rPr>
              <a:t>• Chờ nguồn lực nội bộ — IR-03, IR-04, IR-09</a:t>
            </a:r>
          </a:p>
          <a:p>
            <a:pPr lvl="1">
              <a:spcAft>
                <a:spcPts val="800"/>
              </a:spcAft>
            </a:pPr>
            <a:r>
              <a:rPr sz="1600">
                <a:solidFill>
                  <a:srgbClr val="555555"/>
                </a:solidFill>
                <a:latin typeface="Segoe UI"/>
              </a:rPr>
              <a:t>– Cửa hàng kiểm soát được → bố trí lại nhân sự và điểm phục vụ</a:t>
            </a:r>
          </a:p>
          <a:p>
            <a:pPr>
              <a:spcAft>
                <a:spcPts val="800"/>
              </a:spcAft>
            </a:pPr>
            <a:r>
              <a:rPr sz="1800">
                <a:solidFill>
                  <a:srgbClr val="555555"/>
                </a:solidFill>
                <a:latin typeface="Segoe UI"/>
              </a:rPr>
              <a:t>• Xếp ưu tiên theo hai trục: mức ảnh hưởng × khả năng can thiệp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4.7 Đề xuất cải tiến</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[Viết sau khi có số liệu định lượng mục 4.2 — hạn 02/09]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r>
              <a:rPr sz="3000" b="1">
                <a:solidFill>
                  <a:srgbClr val="1B355E"/>
                </a:solidFill>
                <a:latin typeface="Segoe UI"/>
              </a:rPr>
              <a:t>Kết luận</a:t>
            </a:r>
          </a:p>
        </p:txBody>
      </p:sp>
      <p:sp>
        <p:nvSpPr>
          <p:cNvPr id="3" name="Rectangle 2"/>
          <p:cNvSpPr/>
          <p:nvPr/>
        </p:nvSpPr>
        <p:spPr>
          <a:xfrm>
            <a:off x="548640" y="1143000"/>
            <a:ext cx="11064240" cy="31750"/>
          </a:xfrm>
          <a:prstGeom prst="rect">
            <a:avLst/>
          </a:prstGeom>
          <a:solidFill>
            <a:srgbClr val="C07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754880"/>
          </a:xfrm>
          <a:prstGeom prst="rect">
            <a:avLst/>
          </a:prstGeom>
          <a:noFill/>
        </p:spPr>
        <p:txBody>
          <a:bodyPr wrap="square">
            <a:spAutoFit/>
          </a:bodyPr>
          <a:lstStyle/>
          <a:p>
            <a:pPr>
              <a:spcAft>
                <a:spcPts val="800"/>
              </a:spcAft>
            </a:pPr>
            <a:r>
              <a:rPr sz="1800">
                <a:solidFill>
                  <a:srgbClr val="555555"/>
                </a:solidFill>
                <a:latin typeface="Segoe UI"/>
              </a:rPr>
              <a:t>• Phân rã 12 quy trình theo ba lớp, mô hình hóa 6 quy trình bằng BPMN</a:t>
            </a:r>
          </a:p>
          <a:p>
            <a:pPr>
              <a:spcAft>
                <a:spcPts val="800"/>
              </a:spcAft>
            </a:pPr>
            <a:r>
              <a:rPr sz="1800">
                <a:solidFill>
                  <a:srgbClr val="555555"/>
                </a:solidFill>
                <a:latin typeface="Segoe UI"/>
              </a:rPr>
              <a:t>• Ba mô hình của nhóm trưởng: 9, 10 và 11 gateway — đều vượt mốc 7</a:t>
            </a:r>
          </a:p>
          <a:p>
            <a:pPr>
              <a:spcAft>
                <a:spcPts val="800"/>
              </a:spcAft>
            </a:pPr>
            <a:r>
              <a:rPr sz="1800">
                <a:solidFill>
                  <a:srgbClr val="555555"/>
                </a:solidFill>
                <a:latin typeface="Segoe UI"/>
              </a:rPr>
              <a:t>• 13 phát hiện được gom thành Issue Register có mã truy vết</a:t>
            </a:r>
          </a:p>
          <a:p>
            <a:pPr>
              <a:spcAft>
                <a:spcPts val="800"/>
              </a:spcAft>
            </a:pPr>
            <a:r>
              <a:rPr sz="1800">
                <a:solidFill>
                  <a:srgbClr val="555555"/>
                </a:solidFill>
                <a:latin typeface="Segoe UI"/>
              </a:rPr>
              <a:t>• Mọi số liệu chưa xác minh đều đánh dấu rõ, không bịa số nội bộ</a:t>
            </a:r>
          </a:p>
          <a:p>
            <a:pPr>
              <a:spcAft>
                <a:spcPts val="800"/>
              </a:spcAft>
            </a:pPr>
            <a:r>
              <a:rPr sz="1800">
                <a:solidFill>
                  <a:srgbClr val="555555"/>
                </a:solidFill>
                <a:latin typeface="Segoe UI"/>
              </a:rPr>
              <a:t>• Hạn chế: quy trình dựng từ quan sát bên ngoài, cần đối chiếu thực địa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